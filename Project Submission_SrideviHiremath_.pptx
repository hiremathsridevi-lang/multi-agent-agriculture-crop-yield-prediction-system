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88"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95" d="100"/>
          <a:sy n="95" d="100"/>
        </p:scale>
        <p:origin x="17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1232627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Sridevi Hiremath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hiremathsridevi@gmail.com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8999697929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Agriculture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883517" cy="954107"/>
          </a:xfrm>
          <a:prstGeom prst="rect">
            <a:avLst/>
          </a:prstGeom>
          <a:noFill/>
        </p:spPr>
        <p:txBody>
          <a:bodyPr wrap="square" rtlCol="0">
            <a:spAutoFit/>
          </a:bodyPr>
          <a:lstStyle/>
          <a:p>
            <a:r>
              <a:rPr lang="en-US" sz="2400" b="1" dirty="0"/>
              <a:t>Project Tile –</a:t>
            </a:r>
            <a:r>
              <a:rPr lang="en-US" sz="2800" b="1" dirty="0"/>
              <a:t>Multi-Agent Agriculture Crop Yield Prediction        System </a:t>
            </a:r>
            <a:endParaRPr lang="en-IN" sz="2800" b="1" dirty="0">
              <a:highlight>
                <a:srgbClr val="FFFF00"/>
              </a:highlight>
            </a:endParaRPr>
          </a:p>
        </p:txBody>
      </p:sp>
      <p:pic>
        <p:nvPicPr>
          <p:cNvPr id="3" name="Picture 2">
            <a:extLst>
              <a:ext uri="{FF2B5EF4-FFF2-40B4-BE49-F238E27FC236}">
                <a16:creationId xmlns:a16="http://schemas.microsoft.com/office/drawing/2014/main" id="{55631A6D-67C0-E786-DCCB-CD92CA7C2B34}"/>
              </a:ext>
            </a:extLst>
          </p:cNvPr>
          <p:cNvPicPr>
            <a:picLocks noChangeAspect="1"/>
          </p:cNvPicPr>
          <p:nvPr/>
        </p:nvPicPr>
        <p:blipFill>
          <a:blip r:embed="rId3"/>
          <a:stretch>
            <a:fillRect/>
          </a:stretch>
        </p:blipFill>
        <p:spPr>
          <a:xfrm>
            <a:off x="4227871" y="3627712"/>
            <a:ext cx="816077" cy="10289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a:t>
            </a:r>
            <a:r>
              <a:rPr lang="en-US" dirty="0"/>
              <a:t>Multi-Agent Agriculture Crop Yield Prediction System</a:t>
            </a:r>
          </a:p>
          <a:p>
            <a:pPr fontAlgn="base"/>
            <a:endParaRPr lang="en-US" b="1" dirty="0"/>
          </a:p>
          <a:p>
            <a:pPr fontAlgn="base"/>
            <a:r>
              <a:rPr lang="en-US" b="1" dirty="0"/>
              <a:t>The Challenge</a:t>
            </a:r>
            <a:r>
              <a:rPr lang="en-US" dirty="0"/>
              <a:t> </a:t>
            </a:r>
          </a:p>
          <a:p>
            <a:pPr fontAlgn="base"/>
            <a:r>
              <a:rPr lang="en-US" dirty="0"/>
              <a:t>Agriculture faces several challenges that directly affect crop productivity and farmer income. Farmers often struggle to predict crop yield accurately due to changing climatic conditions, irregular rainfall, soil fertility variations, pest and disease outbreaks, and limited access to timely agricultural information. Traditional farming decisions are often based on experience rather than data-driven insights, leading to inefficient resource utilization and reduced productivity. Additionally, agricultural knowledge is scattered across multiple sources, making it difficult for farmers to obtain accurate and actionable recommendations.</a:t>
            </a:r>
          </a:p>
          <a:p>
            <a:pPr fontAlgn="base"/>
            <a:endParaRPr lang="en-US" b="1" dirty="0"/>
          </a:p>
          <a:p>
            <a:pPr fontAlgn="base"/>
            <a:r>
              <a:rPr lang="en-US" b="1" dirty="0"/>
              <a:t>The Objective</a:t>
            </a:r>
            <a:r>
              <a:rPr lang="en-US" dirty="0"/>
              <a:t> </a:t>
            </a:r>
          </a:p>
          <a:p>
            <a:r>
              <a:rPr lang="en-US" b="1" dirty="0"/>
              <a:t>The system aims to:</a:t>
            </a:r>
          </a:p>
          <a:p>
            <a:r>
              <a:rPr lang="en-US" dirty="0"/>
              <a:t>Predict crop yield using soil, weather, and historical agricultural data. </a:t>
            </a:r>
          </a:p>
          <a:p>
            <a:r>
              <a:rPr lang="en-US" dirty="0"/>
              <a:t>Recommend suitable crops based on environmental and soil conditions. </a:t>
            </a:r>
          </a:p>
          <a:p>
            <a:r>
              <a:rPr lang="en-US" dirty="0"/>
              <a:t>Provide weather-based farming advisories and risk assessments. </a:t>
            </a:r>
          </a:p>
          <a:p>
            <a:r>
              <a:rPr lang="en-US" dirty="0"/>
              <a:t>Detect and suggest preventive measures for crop diseases and pests. </a:t>
            </a:r>
          </a:p>
          <a:p>
            <a:r>
              <a:rPr lang="en-US" dirty="0"/>
              <a:t>Retrieve agricultural knowledge from trusted sources using RAG (Retrieval-Augmented Generation). </a:t>
            </a:r>
          </a:p>
          <a:p>
            <a:r>
              <a:rPr lang="en-US" dirty="0"/>
              <a:t>Deliver personalized recommendations through IBM Granite Models and </a:t>
            </a:r>
            <a:r>
              <a:rPr lang="en-US" dirty="0" err="1"/>
              <a:t>LangFlow</a:t>
            </a:r>
            <a:r>
              <a:rPr lang="en-US" dirty="0"/>
              <a:t>. </a:t>
            </a:r>
          </a:p>
          <a:p>
            <a:r>
              <a:rPr lang="en-US" dirty="0"/>
              <a:t>Improve agricultural productivity, sustainability, and farmer profitability. </a:t>
            </a:r>
          </a:p>
          <a:p>
            <a:r>
              <a:rPr lang="en-US" dirty="0"/>
              <a:t>Support data-driven decision-making through an interactive analytics dashboard.</a:t>
            </a:r>
          </a:p>
          <a:p>
            <a:pPr fontAlgn="base"/>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62760"/>
          </a:xfrm>
          <a:prstGeom prst="rect">
            <a:avLst/>
          </a:prstGeom>
          <a:noFill/>
        </p:spPr>
        <p:txBody>
          <a:bodyPr wrap="square" rtlCol="0">
            <a:spAutoFit/>
          </a:bodyPr>
          <a:lstStyle/>
          <a:p>
            <a:pPr fontAlgn="base"/>
            <a:endParaRPr lang="en-US" b="1" dirty="0"/>
          </a:p>
          <a:p>
            <a:r>
              <a:rPr lang="en-US" sz="1600" b="1" dirty="0">
                <a:latin typeface="Times New Roman" panose="02020603050405020304" pitchFamily="18" charset="0"/>
                <a:cs typeface="Times New Roman" panose="02020603050405020304" pitchFamily="18" charset="0"/>
              </a:rPr>
              <a:t>Proposed Solution: AI-Powered Nutrition Agent</a:t>
            </a:r>
          </a:p>
          <a:p>
            <a:r>
              <a:rPr lang="en-US" sz="1600" dirty="0">
                <a:latin typeface="Times New Roman" panose="02020603050405020304" pitchFamily="18" charset="0"/>
                <a:cs typeface="Times New Roman" panose="02020603050405020304" pitchFamily="18" charset="0"/>
              </a:rPr>
              <a:t>  Predict crop yield using soil, weather, and historical data. </a:t>
            </a:r>
          </a:p>
          <a:p>
            <a:r>
              <a:rPr lang="en-US" sz="1600" dirty="0">
                <a:latin typeface="Times New Roman" panose="02020603050405020304" pitchFamily="18" charset="0"/>
                <a:cs typeface="Times New Roman" panose="02020603050405020304" pitchFamily="18" charset="0"/>
              </a:rPr>
              <a:t>  Recommend suitable crops based on environmental conditions. </a:t>
            </a:r>
          </a:p>
          <a:p>
            <a:r>
              <a:rPr lang="en-US" sz="1600" dirty="0">
                <a:latin typeface="Times New Roman" panose="02020603050405020304" pitchFamily="18" charset="0"/>
                <a:cs typeface="Times New Roman" panose="02020603050405020304" pitchFamily="18" charset="0"/>
              </a:rPr>
              <a:t>  Retrieve agricultural knowledge using RAG from trusted sources. </a:t>
            </a:r>
          </a:p>
          <a:p>
            <a:r>
              <a:rPr lang="en-US" sz="1600" dirty="0">
                <a:latin typeface="Times New Roman" panose="02020603050405020304" pitchFamily="18" charset="0"/>
                <a:cs typeface="Times New Roman" panose="02020603050405020304" pitchFamily="18" charset="0"/>
              </a:rPr>
              <a:t>  Provide weather-based alerts and farming recommendations. </a:t>
            </a:r>
          </a:p>
          <a:p>
            <a:r>
              <a:rPr lang="en-US" sz="1600" dirty="0">
                <a:latin typeface="Times New Roman" panose="02020603050405020304" pitchFamily="18" charset="0"/>
                <a:cs typeface="Times New Roman" panose="02020603050405020304" pitchFamily="18" charset="0"/>
              </a:rPr>
              <a:t>  Offer pest and disease management guidance. </a:t>
            </a:r>
          </a:p>
          <a:p>
            <a:r>
              <a:rPr lang="en-US" sz="1600" dirty="0">
                <a:latin typeface="Times New Roman" panose="02020603050405020304" pitchFamily="18" charset="0"/>
                <a:cs typeface="Times New Roman" panose="02020603050405020304" pitchFamily="18" charset="0"/>
              </a:rPr>
              <a:t>  Generate farm analytics and visualizations for better decision-making.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Multi-Agent System</a:t>
            </a:r>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Yield Prediction Agent</a:t>
            </a:r>
            <a:r>
              <a:rPr lang="en-US" sz="1600" dirty="0">
                <a:latin typeface="Times New Roman" panose="02020603050405020304" pitchFamily="18" charset="0"/>
                <a:cs typeface="Times New Roman" panose="02020603050405020304" pitchFamily="18" charset="0"/>
              </a:rPr>
              <a:t> – Predicts expected crop yield. </a:t>
            </a:r>
          </a:p>
          <a:p>
            <a:pPr lvl="0"/>
            <a:r>
              <a:rPr lang="en-US" sz="1600" b="1" dirty="0">
                <a:latin typeface="Times New Roman" panose="02020603050405020304" pitchFamily="18" charset="0"/>
                <a:cs typeface="Times New Roman" panose="02020603050405020304" pitchFamily="18" charset="0"/>
              </a:rPr>
              <a:t>Crop Recommendation Agent</a:t>
            </a:r>
            <a:r>
              <a:rPr lang="en-US" sz="1600" dirty="0">
                <a:latin typeface="Times New Roman" panose="02020603050405020304" pitchFamily="18" charset="0"/>
                <a:cs typeface="Times New Roman" panose="02020603050405020304" pitchFamily="18" charset="0"/>
              </a:rPr>
              <a:t> – Suggests the best crop for cultivation. </a:t>
            </a:r>
          </a:p>
          <a:p>
            <a:pPr lvl="0"/>
            <a:r>
              <a:rPr lang="en-US" sz="1600" b="1" dirty="0">
                <a:latin typeface="Times New Roman" panose="02020603050405020304" pitchFamily="18" charset="0"/>
                <a:cs typeface="Times New Roman" panose="02020603050405020304" pitchFamily="18" charset="0"/>
              </a:rPr>
              <a:t>Weather Intelligence Agent</a:t>
            </a:r>
            <a:r>
              <a:rPr lang="en-US" sz="1600" dirty="0">
                <a:latin typeface="Times New Roman" panose="02020603050405020304" pitchFamily="18" charset="0"/>
                <a:cs typeface="Times New Roman" panose="02020603050405020304" pitchFamily="18" charset="0"/>
              </a:rPr>
              <a:t> – Monitors weather conditions and risks. </a:t>
            </a:r>
          </a:p>
          <a:p>
            <a:pPr lvl="0"/>
            <a:r>
              <a:rPr lang="en-US" sz="1600" b="1" dirty="0">
                <a:latin typeface="Times New Roman" panose="02020603050405020304" pitchFamily="18" charset="0"/>
                <a:cs typeface="Times New Roman" panose="02020603050405020304" pitchFamily="18" charset="0"/>
              </a:rPr>
              <a:t>Pest &amp; Disease Advisory Agent</a:t>
            </a:r>
            <a:r>
              <a:rPr lang="en-US" sz="1600" dirty="0">
                <a:latin typeface="Times New Roman" panose="02020603050405020304" pitchFamily="18" charset="0"/>
                <a:cs typeface="Times New Roman" panose="02020603050405020304" pitchFamily="18" charset="0"/>
              </a:rPr>
              <a:t> – Provides preventive measures and treatments. </a:t>
            </a:r>
          </a:p>
          <a:p>
            <a:pPr lvl="0"/>
            <a:r>
              <a:rPr lang="en-US" sz="1600" b="1" dirty="0">
                <a:latin typeface="Times New Roman" panose="02020603050405020304" pitchFamily="18" charset="0"/>
                <a:cs typeface="Times New Roman" panose="02020603050405020304" pitchFamily="18" charset="0"/>
              </a:rPr>
              <a:t>Knowledge Retrieval Agent</a:t>
            </a:r>
            <a:r>
              <a:rPr lang="en-US" sz="1600" dirty="0">
                <a:latin typeface="Times New Roman" panose="02020603050405020304" pitchFamily="18" charset="0"/>
                <a:cs typeface="Times New Roman" panose="02020603050405020304" pitchFamily="18" charset="0"/>
              </a:rPr>
              <a:t> – Retrieves agricultural information using RAG. </a:t>
            </a:r>
          </a:p>
          <a:p>
            <a:pPr lvl="0"/>
            <a:r>
              <a:rPr lang="en-US" sz="1600" b="1" dirty="0">
                <a:latin typeface="Times New Roman" panose="02020603050405020304" pitchFamily="18" charset="0"/>
                <a:cs typeface="Times New Roman" panose="02020603050405020304" pitchFamily="18" charset="0"/>
              </a:rPr>
              <a:t>Farm Analytics Agent</a:t>
            </a:r>
            <a:r>
              <a:rPr lang="en-US" sz="1600" dirty="0">
                <a:latin typeface="Times New Roman" panose="02020603050405020304" pitchFamily="18" charset="0"/>
                <a:cs typeface="Times New Roman" panose="02020603050405020304" pitchFamily="18" charset="0"/>
              </a:rPr>
              <a:t> – Visualizes insights and performance metrics.</a:t>
            </a:r>
          </a:p>
          <a:p>
            <a:endParaRPr lang="en-US" sz="1600"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File component - </a:t>
            </a:r>
            <a:r>
              <a:rPr lang="en-US" dirty="0"/>
              <a:t>Stores and retrieves user data, meal logs, and nutritional datasets for analysis and tracking.</a:t>
            </a:r>
          </a:p>
          <a:p>
            <a:endParaRPr lang="en-US" dirty="0"/>
          </a:p>
          <a:p>
            <a:endParaRPr lang="en-US" dirty="0"/>
          </a:p>
          <a:p>
            <a:r>
              <a:rPr lang="en-US" dirty="0"/>
              <a:t>6) 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A408B7B4-F82E-5D07-91D3-C95BB11230AA}"/>
              </a:ext>
            </a:extLst>
          </p:cNvPr>
          <p:cNvPicPr>
            <a:picLocks noChangeAspect="1"/>
          </p:cNvPicPr>
          <p:nvPr/>
        </p:nvPicPr>
        <p:blipFill>
          <a:blip r:embed="rId3"/>
          <a:stretch>
            <a:fillRect/>
          </a:stretch>
        </p:blipFill>
        <p:spPr>
          <a:xfrm>
            <a:off x="2015613" y="1133782"/>
            <a:ext cx="8944079" cy="503104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
        <p:nvSpPr>
          <p:cNvPr id="3" name="AutoShape 2" descr="Multi-Agent Agriculture Prediction Architecture">
            <a:extLst>
              <a:ext uri="{FF2B5EF4-FFF2-40B4-BE49-F238E27FC236}">
                <a16:creationId xmlns:a16="http://schemas.microsoft.com/office/drawing/2014/main" id="{67A29233-FD0E-FE03-7F03-E5091C58B5E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6842D0D4-BC75-AA95-10F0-5E2F115AA397}"/>
              </a:ext>
            </a:extLst>
          </p:cNvPr>
          <p:cNvPicPr>
            <a:picLocks noChangeAspect="1"/>
          </p:cNvPicPr>
          <p:nvPr/>
        </p:nvPicPr>
        <p:blipFill>
          <a:blip r:embed="rId3"/>
          <a:stretch>
            <a:fillRect/>
          </a:stretch>
        </p:blipFill>
        <p:spPr>
          <a:xfrm>
            <a:off x="3239" y="0"/>
            <a:ext cx="12185522"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US" b="1" dirty="0"/>
              <a:t>Role of Agentic AI in Nutrition Agent</a:t>
            </a:r>
          </a:p>
          <a:p>
            <a:endParaRPr lang="en-US" b="1" dirty="0"/>
          </a:p>
          <a:p>
            <a:pPr algn="just"/>
            <a:r>
              <a:rPr lang="en-US" dirty="0"/>
              <a:t>Agentic AI plays a crucial role in the Multi-Agent Agriculture Crop Yield Prediction System by enabling multiple intelligent agents to work collaboratively and autonomously. Instead of relying on a single AI model, the system consists of specialized agents such as the Crop Recommendation Agent, Yield Prediction Agent, Weather Intelligence Agent, Pest &amp; Disease Advisory Agent, and Knowledge Retrieval Agent. Each agent performs a specific task, analyzes relevant agricultural data, and shares insights with other agents to generate accurate and context-aware recommendations for farmers.</a:t>
            </a:r>
          </a:p>
          <a:p>
            <a:pPr algn="just"/>
            <a:r>
              <a:rPr lang="en-US" dirty="0"/>
              <a:t>Agentic AI also enhances decision-making by continuously adapting to changing environmental conditions, soil characteristics, weather forecasts, and historical crop data. Through the integration of IBM Granite Models, </a:t>
            </a:r>
            <a:r>
              <a:rPr lang="en-US" dirty="0" err="1"/>
              <a:t>LangFlow</a:t>
            </a:r>
            <a:r>
              <a:rPr lang="en-US" dirty="0"/>
              <a:t>, and RAG-based knowledge retrieval, the agents can provide personalized crop recommendations, predict expected yield, identify potential risks, and suggest preventive measures. This collaborative and goal-driven approach transforms the system into an intelligent digital farming assistant that improves productivity, supports sustainable agriculture, and helps farmers make data-driven decisions.</a:t>
            </a:r>
          </a:p>
          <a:p>
            <a:r>
              <a:rPr lang="en-US" dirty="0"/>
              <a:t>.</a:t>
            </a:r>
          </a:p>
        </p:txBody>
      </p:sp>
      <p:pic>
        <p:nvPicPr>
          <p:cNvPr id="2052" name="Picture 4" descr="What Is Agentic AI &amp; Is It The Next Big Thing?">
            <a:extLst>
              <a:ext uri="{FF2B5EF4-FFF2-40B4-BE49-F238E27FC236}">
                <a16:creationId xmlns:a16="http://schemas.microsoft.com/office/drawing/2014/main" id="{998CD032-8078-3121-86CB-14B3F10ED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1612" y="776747"/>
            <a:ext cx="4080387" cy="32637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E9DB3200-E2EC-A058-B02D-E1510060484E}"/>
              </a:ext>
            </a:extLst>
          </p:cNvPr>
          <p:cNvPicPr>
            <a:picLocks noChangeAspect="1"/>
          </p:cNvPicPr>
          <p:nvPr/>
        </p:nvPicPr>
        <p:blipFill>
          <a:blip r:embed="rId3"/>
          <a:stretch>
            <a:fillRect/>
          </a:stretch>
        </p:blipFill>
        <p:spPr>
          <a:xfrm>
            <a:off x="797873" y="1572554"/>
            <a:ext cx="4579423" cy="282224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03614573-D426-9337-9C0E-5207B9123920}"/>
              </a:ext>
            </a:extLst>
          </p:cNvPr>
          <p:cNvPicPr>
            <a:picLocks noChangeAspect="1"/>
          </p:cNvPicPr>
          <p:nvPr/>
        </p:nvPicPr>
        <p:blipFill>
          <a:blip r:embed="rId4"/>
          <a:stretch>
            <a:fillRect/>
          </a:stretch>
        </p:blipFill>
        <p:spPr>
          <a:xfrm>
            <a:off x="6121978" y="1562409"/>
            <a:ext cx="5074227" cy="2812844"/>
          </a:xfrm>
          <a:prstGeom prst="rect">
            <a:avLst/>
          </a:prstGeom>
        </p:spPr>
      </p:pic>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908762"/>
          </a:xfrm>
          <a:prstGeom prst="rect">
            <a:avLst/>
          </a:prstGeom>
          <a:noFill/>
        </p:spPr>
        <p:txBody>
          <a:bodyPr wrap="square" rtlCol="0">
            <a:spAutoFit/>
          </a:bodyPr>
          <a:lstStyle/>
          <a:p>
            <a:r>
              <a:rPr lang="en-US" sz="1800" dirty="0"/>
              <a:t>The proposed </a:t>
            </a:r>
            <a:r>
              <a:rPr lang="en-US" sz="1800" b="1" dirty="0"/>
              <a:t>Multi-Agent Agriculture Crop Yield Prediction System</a:t>
            </a:r>
            <a:r>
              <a:rPr lang="en-US" sz="1800" dirty="0"/>
              <a:t> offers a novel approach by integrating </a:t>
            </a:r>
            <a:r>
              <a:rPr lang="en-US" sz="1800" b="1" dirty="0"/>
              <a:t>Agentic AI, Retrieval-Augmented Generation (RAG), Explainable AI (XAI), and predictive analytics</a:t>
            </a:r>
            <a:r>
              <a:rPr lang="en-US" sz="1800" dirty="0"/>
              <a:t> into a single intelligent agricultural platform. Unlike traditional crop prediction systems that rely on a single machine learning model, this solution employs multiple specialized AI agents that collaborate to analyze soil properties, weather conditions, historical yield data, and agricultural knowledge to provide accurate and context-aware recommendations.</a:t>
            </a:r>
          </a:p>
          <a:p>
            <a:r>
              <a:rPr lang="en-US" sz="1800" b="1" dirty="0"/>
              <a:t>Multi-Agent AI Framework</a:t>
            </a:r>
            <a:r>
              <a:rPr lang="en-US" sz="1800" dirty="0"/>
              <a:t> for collaborative decision-making. </a:t>
            </a:r>
          </a:p>
          <a:p>
            <a:r>
              <a:rPr lang="en-US" sz="1800" dirty="0"/>
              <a:t>  </a:t>
            </a:r>
            <a:r>
              <a:rPr lang="en-US" sz="1800" b="1" dirty="0"/>
              <a:t>Crop Recommendation and Yield Prediction in a Single Platform.</a:t>
            </a:r>
            <a:r>
              <a:rPr lang="en-US" sz="1800" dirty="0"/>
              <a:t> </a:t>
            </a:r>
          </a:p>
          <a:p>
            <a:r>
              <a:rPr lang="en-US" sz="1800" dirty="0"/>
              <a:t>  </a:t>
            </a:r>
            <a:r>
              <a:rPr lang="en-US" sz="1800" b="1" dirty="0"/>
              <a:t>RAG-Based Agricultural Knowledge Retrieval</a:t>
            </a:r>
            <a:r>
              <a:rPr lang="en-US" sz="1800" dirty="0"/>
              <a:t> for accurate and reliable responses. </a:t>
            </a:r>
          </a:p>
          <a:p>
            <a:r>
              <a:rPr lang="en-US" sz="1800" dirty="0"/>
              <a:t>  </a:t>
            </a:r>
            <a:r>
              <a:rPr lang="en-US" sz="1800" b="1" dirty="0"/>
              <a:t>Explainable AI (SHAP &amp; LIME)</a:t>
            </a:r>
            <a:r>
              <a:rPr lang="en-US" sz="1800" dirty="0"/>
              <a:t> for transparent prediction results. </a:t>
            </a:r>
          </a:p>
          <a:p>
            <a:r>
              <a:rPr lang="en-US" sz="1800" dirty="0"/>
              <a:t>  </a:t>
            </a:r>
            <a:r>
              <a:rPr lang="en-US" sz="1800" b="1" dirty="0"/>
              <a:t>Weather-Aware and Risk-Based Recommendations.</a:t>
            </a:r>
            <a:r>
              <a:rPr lang="en-US" sz="1800" dirty="0"/>
              <a:t> </a:t>
            </a:r>
          </a:p>
          <a:p>
            <a:r>
              <a:rPr lang="en-US" sz="1800" dirty="0"/>
              <a:t>  </a:t>
            </a:r>
            <a:r>
              <a:rPr lang="en-US" sz="1800" b="1" dirty="0"/>
              <a:t>Personalized Farmer Advisory System.</a:t>
            </a:r>
            <a:r>
              <a:rPr lang="en-US" sz="1800" dirty="0"/>
              <a:t> </a:t>
            </a:r>
          </a:p>
          <a:p>
            <a:r>
              <a:rPr lang="en-US" sz="1800" dirty="0"/>
              <a:t>  </a:t>
            </a:r>
            <a:r>
              <a:rPr lang="en-US" sz="1800" b="1" dirty="0"/>
              <a:t>IBM Granite and </a:t>
            </a:r>
            <a:r>
              <a:rPr lang="en-US" sz="1800" b="1" dirty="0" err="1"/>
              <a:t>LangFlow</a:t>
            </a:r>
            <a:r>
              <a:rPr lang="en-US" sz="1800" b="1" dirty="0"/>
              <a:t> Powered Agentic Architecture.</a:t>
            </a:r>
            <a:endParaRPr lang="en-US"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p>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a:p>
            <a:pPr lvl="0">
              <a:lnSpc>
                <a:spcPct val="157142"/>
              </a:lnSpc>
              <a:buClr>
                <a:srgbClr val="051D3A"/>
              </a:buClr>
              <a:buSzPts val="3500"/>
            </a:pPr>
            <a:r>
              <a:rPr lang="en-US" sz="2400" b="1" dirty="0">
                <a:sym typeface="Times New Roman"/>
              </a:rPr>
              <a:t>https://github.com/hiremathsridevi-lang/Multi-Agent-Agriculture-Crop-Yield-Prediction-System.git</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gn="just"/>
            <a:r>
              <a:rPr lang="en-US" sz="2000" dirty="0"/>
              <a:t>The proposed </a:t>
            </a:r>
            <a:r>
              <a:rPr lang="en-US" sz="2000" b="1" dirty="0"/>
              <a:t>Multi-Agent Agriculture Crop Yield Prediction System</a:t>
            </a:r>
            <a:r>
              <a:rPr lang="en-US" sz="2000" dirty="0"/>
              <a:t> can be further enhanced by integrating advanced technologies and real-time data sources to improve prediction accuracy and decision-making capabilities. Future versions of the system can incorporate </a:t>
            </a:r>
            <a:r>
              <a:rPr lang="en-US" sz="2000" b="1" dirty="0"/>
              <a:t>IoT-based sensors</a:t>
            </a:r>
            <a:r>
              <a:rPr lang="en-US" sz="2000" dirty="0"/>
              <a:t> to continuously monitor soil moisture, temperature, humidity, nutrient levels, and other environmental parameters. This real-time data can help farmers receive more accurate and timely recommendations for irrigation, fertilization, and crop management.</a:t>
            </a:r>
          </a:p>
          <a:p>
            <a:pPr algn="just"/>
            <a:r>
              <a:rPr lang="en-US" sz="2000" dirty="0"/>
              <a:t>The system can also be extended to support </a:t>
            </a:r>
            <a:r>
              <a:rPr lang="en-US" sz="2000" b="1" dirty="0"/>
              <a:t>satellite imagery, drone-based crop monitoring, and remote sensing technologies</a:t>
            </a:r>
            <a:r>
              <a:rPr lang="en-US" sz="2000" dirty="0"/>
              <a:t> for large-scale agricultural analysis. By integrating computer vision and deep learning techniques, the platform can automatically detect crop diseases, pest infestations, and nutrient deficiencies at an early stage. Furthermore, multilingual support and mobile applications can make the solution accessible to farmers from different regions and language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BA3EF-8BA6-8FFF-FB6A-29B2B76C19C7}"/>
              </a:ext>
            </a:extLst>
          </p:cNvPr>
          <p:cNvSpPr>
            <a:spLocks noGrp="1"/>
          </p:cNvSpPr>
          <p:nvPr>
            <p:ph type="title"/>
          </p:nvPr>
        </p:nvSpPr>
        <p:spPr/>
        <p:txBody>
          <a:bodyPr/>
          <a:lstStyle/>
          <a:p>
            <a:r>
              <a:rPr lang="en-US" dirty="0"/>
              <a:t>            Thank You!!!!!!!!!!!!</a:t>
            </a:r>
          </a:p>
        </p:txBody>
      </p:sp>
      <p:sp>
        <p:nvSpPr>
          <p:cNvPr id="3" name="Text Placeholder 2">
            <a:extLst>
              <a:ext uri="{FF2B5EF4-FFF2-40B4-BE49-F238E27FC236}">
                <a16:creationId xmlns:a16="http://schemas.microsoft.com/office/drawing/2014/main" id="{2C08C259-95C9-6FD9-F60D-F0C3691E93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050276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1223</TotalTime>
  <Words>1201</Words>
  <Application>Microsoft Office PowerPoint</Application>
  <PresentationFormat>Widescreen</PresentationFormat>
  <Paragraphs>130</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56</cp:revision>
  <dcterms:created xsi:type="dcterms:W3CDTF">2025-07-08T05:06:56Z</dcterms:created>
  <dcterms:modified xsi:type="dcterms:W3CDTF">2026-06-04T04:27:32Z</dcterms:modified>
</cp:coreProperties>
</file>